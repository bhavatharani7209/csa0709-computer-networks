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Badge label"/>
          <p:cNvSpPr txBox="1"/>
          <p:nvPr/>
        </p:nvSpPr>
        <p:spPr>
          <a:xfrm>
            <a:off x="45720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Q1</a:t>
            </a:r>
            <a:endParaRPr lang="en-US" sz="2400" dirty="0"/>
          </a:p>
        </p:txBody>
      </p:sp>
      <p:sp>
        <p:nvSpPr>
          <p:cNvPr id="4" name="Question"/>
          <p:cNvSpPr txBox="1"/>
          <p:nvPr/>
        </p:nvSpPr>
        <p:spPr>
          <a:xfrm>
            <a:off x="1554480" y="2743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100 Mbps link has 50 ms one-way delay. What is the bandwidth–delay product?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OPTIONS</a:t>
            </a:r>
            <a:endParaRPr lang="en-US" sz="1400" dirty="0"/>
          </a:p>
        </p:txBody>
      </p:sp>
      <p:sp>
        <p:nvSpPr>
          <p:cNvPr id="6" name="Option card A"/>
          <p:cNvSpPr/>
          <p:nvPr/>
        </p:nvSpPr>
        <p:spPr>
          <a:xfrm>
            <a:off x="457200" y="196596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0.5 Mb</a:t>
            </a:r>
            <a:endParaRPr lang="en-US" sz="2000" dirty="0"/>
          </a:p>
        </p:txBody>
      </p:sp>
      <p:sp>
        <p:nvSpPr>
          <p:cNvPr id="9" name="Option card B"/>
          <p:cNvSpPr/>
          <p:nvPr/>
        </p:nvSpPr>
        <p:spPr>
          <a:xfrm>
            <a:off x="457200" y="269748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 Mb</a:t>
            </a:r>
            <a:endParaRPr lang="en-US" sz="2000" dirty="0"/>
          </a:p>
        </p:txBody>
      </p:sp>
      <p:sp>
        <p:nvSpPr>
          <p:cNvPr id="12" name="Option card C"/>
          <p:cNvSpPr/>
          <p:nvPr/>
        </p:nvSpPr>
        <p:spPr>
          <a:xfrm>
            <a:off x="457200" y="342900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50 Mb</a:t>
            </a:r>
            <a:endParaRPr lang="en-US" sz="2000" dirty="0"/>
          </a:p>
        </p:txBody>
      </p:sp>
      <p:sp>
        <p:nvSpPr>
          <p:cNvPr id="15" name="Option card D"/>
          <p:cNvSpPr/>
          <p:nvPr/>
        </p:nvSpPr>
        <p:spPr>
          <a:xfrm>
            <a:off x="4572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500 Mb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54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STEP-BY-STEP EXPLANATION</a:t>
            </a:r>
            <a:endParaRPr lang="en-US" sz="1400" dirty="0"/>
          </a:p>
        </p:txBody>
      </p:sp>
      <p:sp>
        <p:nvSpPr>
          <p:cNvPr id="19" name="Formula box"/>
          <p:cNvSpPr/>
          <p:nvPr/>
        </p:nvSpPr>
        <p:spPr>
          <a:xfrm>
            <a:off x="5577840" y="1965960"/>
            <a:ext cx="615391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0" name="Formula text"/>
          <p:cNvSpPr txBox="1"/>
          <p:nvPr/>
        </p:nvSpPr>
        <p:spPr>
          <a:xfrm>
            <a:off x="5760720" y="196596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Formula: 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BDP = Bandwidth × One-way delay</a:t>
            </a:r>
            <a:endParaRPr lang="en-US" sz="2000" dirty="0"/>
          </a:p>
        </p:txBody>
      </p:sp>
      <p:sp>
        <p:nvSpPr>
          <p:cNvPr id="21" name="Steps"/>
          <p:cNvSpPr txBox="1"/>
          <p:nvPr/>
        </p:nvSpPr>
        <p:spPr>
          <a:xfrm>
            <a:off x="5577840" y="2834640"/>
            <a:ext cx="6153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Convert units: 100 Mbps = 100 × 10⁶ bits/s; 50 ms = 0.05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BDP = 100 × 10⁶ × 0.05 = 5 × 10⁶ bits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5 × 10⁶ bits = 5 Mb, which matches option B</a:t>
            </a:r>
            <a:endParaRPr lang="en-US" sz="1800" dirty="0"/>
          </a:p>
        </p:txBody>
      </p:sp>
      <p:sp>
        <p:nvSpPr>
          <p:cNvPr id="22" name="Final answer banner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9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 5 Mb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Badge label"/>
          <p:cNvSpPr txBox="1"/>
          <p:nvPr/>
        </p:nvSpPr>
        <p:spPr>
          <a:xfrm>
            <a:off x="45720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Q2</a:t>
            </a:r>
            <a:endParaRPr lang="en-US" sz="2400" dirty="0"/>
          </a:p>
        </p:txBody>
      </p:sp>
      <p:sp>
        <p:nvSpPr>
          <p:cNvPr id="4" name="Question"/>
          <p:cNvSpPr txBox="1"/>
          <p:nvPr/>
        </p:nvSpPr>
        <p:spPr>
          <a:xfrm>
            <a:off x="1554480" y="2743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1.5 Mbps link has RTT = 100 ms and a full window of 10 packets of 1 KB each. What is the throughput?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OPTIONS</a:t>
            </a:r>
            <a:endParaRPr lang="en-US" sz="1400" dirty="0"/>
          </a:p>
        </p:txBody>
      </p:sp>
      <p:sp>
        <p:nvSpPr>
          <p:cNvPr id="6" name="Option card A"/>
          <p:cNvSpPr/>
          <p:nvPr/>
        </p:nvSpPr>
        <p:spPr>
          <a:xfrm>
            <a:off x="457200" y="196596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120 kbps</a:t>
            </a:r>
            <a:endParaRPr lang="en-US" sz="2000" dirty="0"/>
          </a:p>
        </p:txBody>
      </p:sp>
      <p:sp>
        <p:nvSpPr>
          <p:cNvPr id="9" name="Option card B"/>
          <p:cNvSpPr/>
          <p:nvPr/>
        </p:nvSpPr>
        <p:spPr>
          <a:xfrm>
            <a:off x="457200" y="269748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500 kbps</a:t>
            </a:r>
            <a:endParaRPr lang="en-US" sz="2000" dirty="0"/>
          </a:p>
        </p:txBody>
      </p:sp>
      <p:sp>
        <p:nvSpPr>
          <p:cNvPr id="12" name="Option card C"/>
          <p:cNvSpPr/>
          <p:nvPr/>
        </p:nvSpPr>
        <p:spPr>
          <a:xfrm>
            <a:off x="457200" y="342900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800 kbps</a:t>
            </a:r>
            <a:endParaRPr lang="en-US" sz="2000" dirty="0"/>
          </a:p>
        </p:txBody>
      </p:sp>
      <p:sp>
        <p:nvSpPr>
          <p:cNvPr id="15" name="Option card D"/>
          <p:cNvSpPr/>
          <p:nvPr/>
        </p:nvSpPr>
        <p:spPr>
          <a:xfrm>
            <a:off x="4572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1.2 Mbps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54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STEP-BY-STEP EXPLANATION</a:t>
            </a:r>
            <a:endParaRPr lang="en-US" sz="1400" dirty="0"/>
          </a:p>
        </p:txBody>
      </p:sp>
      <p:sp>
        <p:nvSpPr>
          <p:cNvPr id="19" name="Formula box"/>
          <p:cNvSpPr/>
          <p:nvPr/>
        </p:nvSpPr>
        <p:spPr>
          <a:xfrm>
            <a:off x="5577840" y="1965960"/>
            <a:ext cx="615391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0" name="Formula text"/>
          <p:cNvSpPr txBox="1"/>
          <p:nvPr/>
        </p:nvSpPr>
        <p:spPr>
          <a:xfrm>
            <a:off x="5760720" y="196596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Formula: 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Rate = min(Window ÷ RTT, Link rate)</a:t>
            </a:r>
            <a:endParaRPr lang="en-US" sz="2000" dirty="0"/>
          </a:p>
        </p:txBody>
      </p:sp>
      <p:sp>
        <p:nvSpPr>
          <p:cNvPr id="21" name="Steps"/>
          <p:cNvSpPr txBox="1"/>
          <p:nvPr/>
        </p:nvSpPr>
        <p:spPr>
          <a:xfrm>
            <a:off x="5577840" y="2834640"/>
            <a:ext cx="6153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Window = 10 × 1 KB = 10 KB = 80 kb; RTT = 0.1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Window ÷ RTT = 80 kb ÷ 0.1 s = 800 kbps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Link rate = 1500 kbps, so the window is the bottleneck: min(800, 1500) = 800 kbps</a:t>
            </a:r>
            <a:endParaRPr lang="en-US" sz="1800" dirty="0"/>
          </a:p>
        </p:txBody>
      </p:sp>
      <p:sp>
        <p:nvSpPr>
          <p:cNvPr id="22" name="Final answer banner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9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 800 kbps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Badge label"/>
          <p:cNvSpPr txBox="1"/>
          <p:nvPr/>
        </p:nvSpPr>
        <p:spPr>
          <a:xfrm>
            <a:off x="45720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Q3</a:t>
            </a:r>
            <a:endParaRPr lang="en-US" sz="2400" dirty="0"/>
          </a:p>
        </p:txBody>
      </p:sp>
      <p:sp>
        <p:nvSpPr>
          <p:cNvPr id="4" name="Question"/>
          <p:cNvSpPr txBox="1"/>
          <p:nvPr/>
        </p:nvSpPr>
        <p:spPr>
          <a:xfrm>
            <a:off x="1554480" y="2743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 Gbps channel has a propagation delay of 20 ms. What is the maximum number of bits in transit?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OPTIONS</a:t>
            </a:r>
            <a:endParaRPr lang="en-US" sz="1400" dirty="0"/>
          </a:p>
        </p:txBody>
      </p:sp>
      <p:sp>
        <p:nvSpPr>
          <p:cNvPr id="6" name="Option card A"/>
          <p:cNvSpPr/>
          <p:nvPr/>
        </p:nvSpPr>
        <p:spPr>
          <a:xfrm>
            <a:off x="457200" y="196596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100 Mb</a:t>
            </a:r>
            <a:endParaRPr lang="en-US" sz="2000" dirty="0"/>
          </a:p>
        </p:txBody>
      </p:sp>
      <p:sp>
        <p:nvSpPr>
          <p:cNvPr id="9" name="Option card B"/>
          <p:cNvSpPr/>
          <p:nvPr/>
        </p:nvSpPr>
        <p:spPr>
          <a:xfrm>
            <a:off x="457200" y="269748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10 Mb</a:t>
            </a:r>
            <a:endParaRPr lang="en-US" sz="2000" dirty="0"/>
          </a:p>
        </p:txBody>
      </p:sp>
      <p:sp>
        <p:nvSpPr>
          <p:cNvPr id="12" name="Option card C"/>
          <p:cNvSpPr/>
          <p:nvPr/>
        </p:nvSpPr>
        <p:spPr>
          <a:xfrm>
            <a:off x="457200" y="342900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 Gb</a:t>
            </a:r>
            <a:endParaRPr lang="en-US" sz="2000" dirty="0"/>
          </a:p>
        </p:txBody>
      </p:sp>
      <p:sp>
        <p:nvSpPr>
          <p:cNvPr id="15" name="Option card D"/>
          <p:cNvSpPr/>
          <p:nvPr/>
        </p:nvSpPr>
        <p:spPr>
          <a:xfrm>
            <a:off x="4572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50 Mb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54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STEP-BY-STEP EXPLANATION</a:t>
            </a:r>
            <a:endParaRPr lang="en-US" sz="1400" dirty="0"/>
          </a:p>
        </p:txBody>
      </p:sp>
      <p:sp>
        <p:nvSpPr>
          <p:cNvPr id="19" name="Formula box"/>
          <p:cNvSpPr/>
          <p:nvPr/>
        </p:nvSpPr>
        <p:spPr>
          <a:xfrm>
            <a:off x="5577840" y="1965960"/>
            <a:ext cx="615391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0" name="Formula text"/>
          <p:cNvSpPr txBox="1"/>
          <p:nvPr/>
        </p:nvSpPr>
        <p:spPr>
          <a:xfrm>
            <a:off x="5760720" y="196596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Formula: 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Bits in transit = BDP = Bandwidth × Delay</a:t>
            </a:r>
            <a:endParaRPr lang="en-US" sz="2000" dirty="0"/>
          </a:p>
        </p:txBody>
      </p:sp>
      <p:sp>
        <p:nvSpPr>
          <p:cNvPr id="21" name="Steps"/>
          <p:cNvSpPr txBox="1"/>
          <p:nvPr/>
        </p:nvSpPr>
        <p:spPr>
          <a:xfrm>
            <a:off x="5577840" y="2834640"/>
            <a:ext cx="6153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Convert units: 5 Gbps = 5 × 10⁹ bits/s; 20 ms = 0.02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BDP = 5 × 10⁹ × 0.02 = 1 × 10⁸ bits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1 × 10⁸ bits = 100 Mb, which matches option A</a:t>
            </a:r>
            <a:endParaRPr lang="en-US" sz="1800" dirty="0"/>
          </a:p>
        </p:txBody>
      </p:sp>
      <p:sp>
        <p:nvSpPr>
          <p:cNvPr id="22" name="Final answer banner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9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 100 Mb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Badge label"/>
          <p:cNvSpPr txBox="1"/>
          <p:nvPr/>
        </p:nvSpPr>
        <p:spPr>
          <a:xfrm>
            <a:off x="45720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Q4</a:t>
            </a:r>
            <a:endParaRPr lang="en-US" sz="2400" dirty="0"/>
          </a:p>
        </p:txBody>
      </p:sp>
      <p:sp>
        <p:nvSpPr>
          <p:cNvPr id="4" name="Question"/>
          <p:cNvSpPr txBox="1"/>
          <p:nvPr/>
        </p:nvSpPr>
        <p:spPr>
          <a:xfrm>
            <a:off x="1554480" y="2743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satellite link has 270 ms one-way delay and 10 Mbps bandwidth. What is the BDP?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OPTIONS</a:t>
            </a:r>
            <a:endParaRPr lang="en-US" sz="1400" dirty="0"/>
          </a:p>
        </p:txBody>
      </p:sp>
      <p:sp>
        <p:nvSpPr>
          <p:cNvPr id="6" name="Option card A"/>
          <p:cNvSpPr/>
          <p:nvPr/>
        </p:nvSpPr>
        <p:spPr>
          <a:xfrm>
            <a:off x="457200" y="196596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2.7 Mb</a:t>
            </a:r>
            <a:endParaRPr lang="en-US" sz="2000" dirty="0"/>
          </a:p>
        </p:txBody>
      </p:sp>
      <p:sp>
        <p:nvSpPr>
          <p:cNvPr id="9" name="Option card B"/>
          <p:cNvSpPr/>
          <p:nvPr/>
        </p:nvSpPr>
        <p:spPr>
          <a:xfrm>
            <a:off x="457200" y="269748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5.4 Mb</a:t>
            </a:r>
            <a:endParaRPr lang="en-US" sz="2000" dirty="0"/>
          </a:p>
        </p:txBody>
      </p:sp>
      <p:sp>
        <p:nvSpPr>
          <p:cNvPr id="12" name="Option card C"/>
          <p:cNvSpPr/>
          <p:nvPr/>
        </p:nvSpPr>
        <p:spPr>
          <a:xfrm>
            <a:off x="457200" y="342900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8.1 Mb</a:t>
            </a:r>
            <a:endParaRPr lang="en-US" sz="2000" dirty="0"/>
          </a:p>
        </p:txBody>
      </p:sp>
      <p:sp>
        <p:nvSpPr>
          <p:cNvPr id="15" name="Option card D"/>
          <p:cNvSpPr/>
          <p:nvPr/>
        </p:nvSpPr>
        <p:spPr>
          <a:xfrm>
            <a:off x="4572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10 Mb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54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STEP-BY-STEP EXPLANATION</a:t>
            </a:r>
            <a:endParaRPr lang="en-US" sz="1400" dirty="0"/>
          </a:p>
        </p:txBody>
      </p:sp>
      <p:sp>
        <p:nvSpPr>
          <p:cNvPr id="19" name="Formula box"/>
          <p:cNvSpPr/>
          <p:nvPr/>
        </p:nvSpPr>
        <p:spPr>
          <a:xfrm>
            <a:off x="5577840" y="1965960"/>
            <a:ext cx="615391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0" name="Formula text"/>
          <p:cNvSpPr txBox="1"/>
          <p:nvPr/>
        </p:nvSpPr>
        <p:spPr>
          <a:xfrm>
            <a:off x="5760720" y="196596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Formula: 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BDP = Bandwidth × One-way delay</a:t>
            </a:r>
            <a:endParaRPr lang="en-US" sz="2000" dirty="0"/>
          </a:p>
        </p:txBody>
      </p:sp>
      <p:sp>
        <p:nvSpPr>
          <p:cNvPr id="21" name="Steps"/>
          <p:cNvSpPr txBox="1"/>
          <p:nvPr/>
        </p:nvSpPr>
        <p:spPr>
          <a:xfrm>
            <a:off x="5577840" y="2834640"/>
            <a:ext cx="6153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Same convention as Q1 and Q3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Convert units: 10 Mbps = 10 × 10⁶ bits/s; 270 ms = 0.27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BDP = 10 × 10⁶ × 0.27 = 2.7 × 10⁶ bits = 2.7 Mb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Note: with RTT (540 ms) it would be 5.4 Mb (option B)</a:t>
            </a:r>
            <a:endParaRPr lang="en-US" sz="1800" dirty="0"/>
          </a:p>
        </p:txBody>
      </p:sp>
      <p:sp>
        <p:nvSpPr>
          <p:cNvPr id="22" name="Final answer banner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9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 2.7 Mb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Badge label"/>
          <p:cNvSpPr txBox="1"/>
          <p:nvPr/>
        </p:nvSpPr>
        <p:spPr>
          <a:xfrm>
            <a:off x="45720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Q5</a:t>
            </a:r>
            <a:endParaRPr lang="en-US" sz="2400" dirty="0"/>
          </a:p>
        </p:txBody>
      </p:sp>
      <p:sp>
        <p:nvSpPr>
          <p:cNvPr id="4" name="Question"/>
          <p:cNvSpPr txBox="1"/>
          <p:nvPr/>
        </p:nvSpPr>
        <p:spPr>
          <a:xfrm>
            <a:off x="1554480" y="2743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stop-and-wait ARQ, link 2 Mbps, RTT = 40 ms, frame = 1000 B. What is the efficiency?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OPTIONS</a:t>
            </a:r>
            <a:endParaRPr lang="en-US" sz="1400" dirty="0"/>
          </a:p>
        </p:txBody>
      </p:sp>
      <p:sp>
        <p:nvSpPr>
          <p:cNvPr id="6" name="Option card A"/>
          <p:cNvSpPr/>
          <p:nvPr/>
        </p:nvSpPr>
        <p:spPr>
          <a:xfrm>
            <a:off x="457200" y="196596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0.2</a:t>
            </a:r>
            <a:endParaRPr lang="en-US" sz="2000" dirty="0"/>
          </a:p>
        </p:txBody>
      </p:sp>
      <p:sp>
        <p:nvSpPr>
          <p:cNvPr id="9" name="Option card B"/>
          <p:cNvSpPr/>
          <p:nvPr/>
        </p:nvSpPr>
        <p:spPr>
          <a:xfrm>
            <a:off x="457200" y="269748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0.4</a:t>
            </a:r>
            <a:endParaRPr lang="en-US" sz="2000" dirty="0"/>
          </a:p>
        </p:txBody>
      </p:sp>
      <p:sp>
        <p:nvSpPr>
          <p:cNvPr id="12" name="Option card C"/>
          <p:cNvSpPr/>
          <p:nvPr/>
        </p:nvSpPr>
        <p:spPr>
          <a:xfrm>
            <a:off x="457200" y="342900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0.1</a:t>
            </a:r>
            <a:endParaRPr lang="en-US" sz="2000" dirty="0"/>
          </a:p>
        </p:txBody>
      </p:sp>
      <p:sp>
        <p:nvSpPr>
          <p:cNvPr id="15" name="Option card D"/>
          <p:cNvSpPr/>
          <p:nvPr/>
        </p:nvSpPr>
        <p:spPr>
          <a:xfrm>
            <a:off x="4572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54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STEP-BY-STEP EXPLANATION</a:t>
            </a:r>
            <a:endParaRPr lang="en-US" sz="1400" dirty="0"/>
          </a:p>
        </p:txBody>
      </p:sp>
      <p:sp>
        <p:nvSpPr>
          <p:cNvPr id="19" name="Formula box"/>
          <p:cNvSpPr/>
          <p:nvPr/>
        </p:nvSpPr>
        <p:spPr>
          <a:xfrm>
            <a:off x="5577840" y="1965960"/>
            <a:ext cx="615391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0" name="Formula text"/>
          <p:cNvSpPr txBox="1"/>
          <p:nvPr/>
        </p:nvSpPr>
        <p:spPr>
          <a:xfrm>
            <a:off x="5760720" y="196596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Formula: 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Efficiency = Tx ÷ (Tx + RTT)</a:t>
            </a:r>
            <a:endParaRPr lang="en-US" sz="2000" dirty="0"/>
          </a:p>
        </p:txBody>
      </p:sp>
      <p:sp>
        <p:nvSpPr>
          <p:cNvPr id="21" name="Steps"/>
          <p:cNvSpPr txBox="1"/>
          <p:nvPr/>
        </p:nvSpPr>
        <p:spPr>
          <a:xfrm>
            <a:off x="5577840" y="2834640"/>
            <a:ext cx="6153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Frame = 1000 B = 8000 bits = 8 kb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Tx = 8 kb ÷ 2 Mbps = 8000 ÷ (2 × 10⁶) = 4 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Efficiency = 4 ÷ (4 + 40) = 4 ÷ 44 ≈ 0.09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0.09 is closest to 0.1, which is option C</a:t>
            </a:r>
            <a:endParaRPr lang="en-US" sz="1800" dirty="0"/>
          </a:p>
        </p:txBody>
      </p:sp>
      <p:sp>
        <p:nvSpPr>
          <p:cNvPr id="22" name="Final answer banner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9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 0.1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Badge label"/>
          <p:cNvSpPr txBox="1"/>
          <p:nvPr/>
        </p:nvSpPr>
        <p:spPr>
          <a:xfrm>
            <a:off x="45720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Q41</a:t>
            </a:r>
            <a:endParaRPr lang="en-US" sz="2000" dirty="0"/>
          </a:p>
        </p:txBody>
      </p:sp>
      <p:sp>
        <p:nvSpPr>
          <p:cNvPr id="4" name="Question"/>
          <p:cNvSpPr txBox="1"/>
          <p:nvPr/>
        </p:nvSpPr>
        <p:spPr>
          <a:xfrm>
            <a:off x="1554480" y="2743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channel has 2 MHz bandwidth and SNR = 10 dB. What is the capacity?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OPTIONS</a:t>
            </a:r>
            <a:endParaRPr lang="en-US" sz="1400" dirty="0"/>
          </a:p>
        </p:txBody>
      </p:sp>
      <p:sp>
        <p:nvSpPr>
          <p:cNvPr id="6" name="Option card A"/>
          <p:cNvSpPr/>
          <p:nvPr/>
        </p:nvSpPr>
        <p:spPr>
          <a:xfrm>
            <a:off x="457200" y="196596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6.6 Mbps</a:t>
            </a:r>
            <a:endParaRPr lang="en-US" sz="2000" dirty="0"/>
          </a:p>
        </p:txBody>
      </p:sp>
      <p:sp>
        <p:nvSpPr>
          <p:cNvPr id="9" name="Option card B"/>
          <p:cNvSpPr/>
          <p:nvPr/>
        </p:nvSpPr>
        <p:spPr>
          <a:xfrm>
            <a:off x="457200" y="269748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13.3 Mbps</a:t>
            </a:r>
            <a:endParaRPr lang="en-US" sz="2000" dirty="0"/>
          </a:p>
        </p:txBody>
      </p:sp>
      <p:sp>
        <p:nvSpPr>
          <p:cNvPr id="12" name="Option card C"/>
          <p:cNvSpPr/>
          <p:nvPr/>
        </p:nvSpPr>
        <p:spPr>
          <a:xfrm>
            <a:off x="457200" y="342900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20 Mbps</a:t>
            </a:r>
            <a:endParaRPr lang="en-US" sz="2000" dirty="0"/>
          </a:p>
        </p:txBody>
      </p:sp>
      <p:sp>
        <p:nvSpPr>
          <p:cNvPr id="15" name="Option card D"/>
          <p:cNvSpPr/>
          <p:nvPr/>
        </p:nvSpPr>
        <p:spPr>
          <a:xfrm>
            <a:off x="4572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 Mbps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54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STEP-BY-STEP EXPLANATION</a:t>
            </a:r>
            <a:endParaRPr lang="en-US" sz="1400" dirty="0"/>
          </a:p>
        </p:txBody>
      </p:sp>
      <p:sp>
        <p:nvSpPr>
          <p:cNvPr id="19" name="Formula box"/>
          <p:cNvSpPr/>
          <p:nvPr/>
        </p:nvSpPr>
        <p:spPr>
          <a:xfrm>
            <a:off x="5577840" y="1965960"/>
            <a:ext cx="615391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0" name="Formula text"/>
          <p:cNvSpPr txBox="1"/>
          <p:nvPr/>
        </p:nvSpPr>
        <p:spPr>
          <a:xfrm>
            <a:off x="5760720" y="196596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Formula: 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 = B × log₂(1 + SNR)</a:t>
            </a:r>
            <a:endParaRPr lang="en-US" sz="2000" dirty="0"/>
          </a:p>
        </p:txBody>
      </p:sp>
      <p:sp>
        <p:nvSpPr>
          <p:cNvPr id="21" name="Steps"/>
          <p:cNvSpPr txBox="1"/>
          <p:nvPr/>
        </p:nvSpPr>
        <p:spPr>
          <a:xfrm>
            <a:off x="5577840" y="2834640"/>
            <a:ext cx="6153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B = 2 MHz = 2 × 10⁶ Hz; SNR = 10 dB → 10^(10/10) = 10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 = 2 × 10⁶ × log₂(11) ≈ 2 × 10⁶ × 3.46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 ≈ 6.9 Mbps, so the closest option is 6.6 Mbps (option A)</a:t>
            </a:r>
            <a:endParaRPr lang="en-US" sz="1800" dirty="0"/>
          </a:p>
        </p:txBody>
      </p:sp>
      <p:sp>
        <p:nvSpPr>
          <p:cNvPr id="22" name="Final answer banner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9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 6.6 Mbps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s MCQ">
  <a:themeElements>
    <a:clrScheme name="Networks MCQ">
      <a:dk1>
        <a:srgbClr val="1B2A41"/>
      </a:dk1>
      <a:lt1>
        <a:srgbClr val="FFFFFF"/>
      </a:lt1>
      <a:dk2>
        <a:srgbClr val="0F4C5C"/>
      </a:dk2>
      <a:lt2>
        <a:srgbClr val="EEF3F6"/>
      </a:lt2>
      <a:accent1>
        <a:srgbClr val="0F4C5C"/>
      </a:accent1>
      <a:accent2>
        <a:srgbClr val="2E8B57"/>
      </a:accent2>
      <a:accent3>
        <a:srgbClr val="E36414"/>
      </a:accent3>
      <a:accent4>
        <a:srgbClr val="5F0F40"/>
      </a:accent4>
      <a:accent5>
        <a:srgbClr val="9A8C98"/>
      </a:accent5>
      <a:accent6>
        <a:srgbClr val="4A6FA5"/>
      </a:accent6>
      <a:hlink>
        <a:srgbClr val="0F4C5C"/>
      </a:hlink>
      <a:folHlink>
        <a:srgbClr val="5F0F40"/>
      </a:folHlink>
    </a:clrScheme>
    <a:fontScheme name="Networks MCQ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2026-10-15T08:27:19Z</dcterms:created>
  <dcterms:modified xsi:type="dcterms:W3CDTF">2026-10-15T08:27:19Z</dcterms:modified>
</cp:coreProperties>
</file>
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32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in class: First, we add all four 8-bit binary numbers. If an extra carry comes out, we add it back to the 8-bit sum. After adding all the numbers, we take the 1's complement by changing every zero to one and every one to zero. Therefore, the checksum is 10101011. Shortcut: Add, wrap the carry around, flip all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3643" y="853792"/>
            <a:ext cx="105047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18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43643" y="1444342"/>
            <a:ext cx="10535557" cy="460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3643" y="853792"/>
            <a:ext cx="105047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18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43643" y="1444342"/>
            <a:ext cx="10535557" cy="460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775" y="358775"/>
            <a:ext cx="10966451" cy="1890429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643" y="538843"/>
            <a:ext cx="2162209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· QUESTION 1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91076" y="538843"/>
            <a:ext cx="165728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Detection: CRC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43643" y="853792"/>
            <a:ext cx="1081985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i="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CRC with G(x) = x³ + x + 1, data = 1011, received = 1011010. Error detected?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3643" y="1241142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7" name="Text 5"/>
          <p:cNvSpPr/>
          <p:nvPr/>
        </p:nvSpPr>
        <p:spPr>
          <a:xfrm>
            <a:off x="970643" y="1304642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0043" y="1304642"/>
            <a:ext cx="77645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error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241142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0" name="Text 8"/>
          <p:cNvSpPr/>
          <p:nvPr/>
        </p:nvSpPr>
        <p:spPr>
          <a:xfrm>
            <a:off x="6299200" y="1304642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78600" y="1304642"/>
            <a:ext cx="134207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detected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3643" y="1693239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970643" y="1756739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50043" y="1756739"/>
            <a:ext cx="176712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CRC remainder = 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3239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299200" y="1756739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78600" y="1756739"/>
            <a:ext cx="1693681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determine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775" y="2407954"/>
            <a:ext cx="5403850" cy="3105037"/>
          </a:xfrm>
          <a:prstGeom prst="roundRect">
            <a:avLst>
              <a:gd name="adj" fmla="val 3170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243" y="2588022"/>
            <a:ext cx="51427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&amp; Concept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243" y="2905522"/>
            <a:ext cx="5142702" cy="24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G(x) = x³ + x + 1 → </a:t>
            </a:r>
            <a:r>
              <a:rPr lang="en-US" sz="13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1011</a:t>
            </a: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(degree 3 → 3 CRC bits)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243" y="3217296"/>
            <a:ext cx="5142702" cy="24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r>
              <a:rPr lang="en-US" sz="13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1011</a:t>
            </a: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Received: </a:t>
            </a:r>
            <a:r>
              <a:rPr lang="en-US" sz="13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1011010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243" y="3529069"/>
            <a:ext cx="4992915" cy="401297"/>
          </a:xfrm>
          <a:prstGeom prst="roundRect">
            <a:avLst>
              <a:gd name="adj" fmla="val 15824"/>
            </a:avLst>
          </a:prstGeom>
          <a:solidFill>
            <a:srgbClr val="E8F0FB"/>
          </a:solidFill>
          <a:ln/>
        </p:spPr>
        <p:txBody>
          <a:bodyPr wrap="square" lIns="11156" tIns="57601" rIns="11156" bIns="32201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Remainder = Received ÷ G (mod-2)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8243" y="4019267"/>
            <a:ext cx="5142702" cy="24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Remainder 0 → accepted. Remainder ≠ 0 → error.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5375" y="2407954"/>
            <a:ext cx="5403850" cy="3105037"/>
          </a:xfrm>
          <a:prstGeom prst="roundRect">
            <a:avLst>
              <a:gd name="adj" fmla="val 3170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0843" y="2588022"/>
            <a:ext cx="51427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80843" y="2905522"/>
            <a:ext cx="203200" cy="47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34843" y="2905522"/>
            <a:ext cx="4881082" cy="47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codeword: 1011 + 000 → 1011000 (÷ 1011 gives remainder 0).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80843" y="3440169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34843" y="3440169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received 1011010 by 1011 using XOR.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80843" y="3760192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34843" y="3760192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1011 ⊕ 1011 = 0000, leaving bits 010 → remainder = </a:t>
            </a:r>
            <a:r>
              <a:rPr lang="en-US" sz="13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80843" y="4080215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34843" y="4080215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 ≠ 000 → the last bit was corrupted.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9125" y="5678091"/>
            <a:ext cx="7097798" cy="763984"/>
          </a:xfrm>
          <a:prstGeom prst="roundRect">
            <a:avLst>
              <a:gd name="adj" fmla="val 12052"/>
            </a:avLst>
          </a:prstGeom>
          <a:solidFill>
            <a:srgbClr val="E3F4EA"/>
          </a:solidFill>
          <a:ln w="19050">
            <a:solidFill>
              <a:srgbClr val="1E8A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943" y="5813709"/>
            <a:ext cx="483110" cy="492749"/>
          </a:xfrm>
          <a:prstGeom prst="roundRect">
            <a:avLst>
              <a:gd name="adj" fmla="val 15773"/>
            </a:avLst>
          </a:prstGeom>
          <a:solidFill>
            <a:srgbClr val="1E8A4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466453" y="5944507"/>
            <a:ext cx="621981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46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detected: remainder 010 is not zero.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882023" y="5671741"/>
            <a:ext cx="3697203" cy="776684"/>
          </a:xfrm>
          <a:prstGeom prst="roundRect">
            <a:avLst>
              <a:gd name="adj" fmla="val 12672"/>
            </a:avLst>
          </a:prstGeom>
          <a:solidFill>
            <a:srgbClr val="FFF4E5"/>
          </a:solidFill>
          <a:ln w="6350">
            <a:solidFill>
              <a:srgbClr val="F0C7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2091" y="5801009"/>
            <a:ext cx="3437179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62091" y="6052457"/>
            <a:ext cx="3437179" cy="24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Remainder 0 = clean. Anything else = error.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775" y="358775"/>
            <a:ext cx="10966451" cy="1890429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643" y="538843"/>
            <a:ext cx="2162209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· QUESTION 2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81114" y="538843"/>
            <a:ext cx="2167244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Detection: Checksum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43643" y="853792"/>
            <a:ext cx="1081985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i="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Checksum of four 8-bit words 10011001, 11110000, 10101010, 00011111?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3643" y="1241142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7" name="Text 5"/>
          <p:cNvSpPr/>
          <p:nvPr/>
        </p:nvSpPr>
        <p:spPr>
          <a:xfrm>
            <a:off x="970643" y="1304642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0043" y="1304642"/>
            <a:ext cx="95930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01001101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241142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0" name="Text 8"/>
          <p:cNvSpPr/>
          <p:nvPr/>
        </p:nvSpPr>
        <p:spPr>
          <a:xfrm>
            <a:off x="6299200" y="1304642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78600" y="1304642"/>
            <a:ext cx="95930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01100101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3643" y="1693239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970643" y="1756739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50043" y="1756739"/>
            <a:ext cx="95930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10011101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3239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299200" y="1756739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78600" y="1756739"/>
            <a:ext cx="95930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11100001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775" y="2407955"/>
            <a:ext cx="5403850" cy="3125362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243" y="2588023"/>
            <a:ext cx="51427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&amp; Concept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243" y="2905523"/>
            <a:ext cx="5142702" cy="916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D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10011001</a:t>
            </a:r>
            <a:endParaRPr lang="en-US" sz="130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D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11110000</a:t>
            </a:r>
            <a:endParaRPr lang="en-US" sz="130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D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10101010</a:t>
            </a:r>
            <a:endParaRPr lang="en-US" sz="130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D24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00011111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243" y="3885917"/>
            <a:ext cx="4992915" cy="401297"/>
          </a:xfrm>
          <a:prstGeom prst="roundRect">
            <a:avLst>
              <a:gd name="adj" fmla="val 15824"/>
            </a:avLst>
          </a:prstGeom>
          <a:solidFill>
            <a:srgbClr val="E8F0FB"/>
          </a:solidFill>
          <a:ln/>
        </p:spPr>
        <p:txBody>
          <a:bodyPr wrap="square" lIns="11156" tIns="57601" rIns="11156" bIns="32201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Checksum = ~(sum with wraparound)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8243" y="4376114"/>
            <a:ext cx="5142702" cy="47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words. If a carry comes out, add it back to the 8-bit sum. Then flip every bit.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8243" y="4910761"/>
            <a:ext cx="5142702" cy="24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sum + checksum = 11111111.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5375" y="2407955"/>
            <a:ext cx="5403850" cy="3125362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0843" y="2588023"/>
            <a:ext cx="51427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80843" y="2905523"/>
            <a:ext cx="203200" cy="47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34843" y="2905523"/>
            <a:ext cx="4881082" cy="47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10011001 + 11110000 = 1 10001001</a:t>
            </a:r>
            <a:endParaRPr lang="en-US" sz="130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carry: 10001001 + 1 = </a:t>
            </a:r>
            <a:r>
              <a:rPr lang="en-US" sz="13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10001010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80843" y="3440170"/>
            <a:ext cx="203200" cy="47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34843" y="3440170"/>
            <a:ext cx="4881082" cy="47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10001010 + 10101010 = 1 00110100</a:t>
            </a:r>
            <a:endParaRPr lang="en-US" sz="1300" dirty="0"/>
          </a:p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carry: 00110100 + 1 = </a:t>
            </a:r>
            <a:r>
              <a:rPr lang="en-US" sz="13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00110101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80843" y="3974817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34843" y="3974817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00110101 + 00011111 = </a:t>
            </a:r>
            <a:r>
              <a:rPr lang="en-US" sz="13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01010100</a:t>
            </a: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(sum = 84)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80843" y="4294840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34843" y="4294840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every 0 and 1 of 01010100 → </a:t>
            </a:r>
            <a:r>
              <a:rPr lang="en-US" sz="13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10101011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9125" y="5698417"/>
            <a:ext cx="7097798" cy="743659"/>
          </a:xfrm>
          <a:prstGeom prst="roundRect">
            <a:avLst>
              <a:gd name="adj" fmla="val 12381"/>
            </a:avLst>
          </a:prstGeom>
          <a:solidFill>
            <a:srgbClr val="E3F4EA"/>
          </a:solidFill>
          <a:ln w="19050">
            <a:solidFill>
              <a:srgbClr val="1E8A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943" y="5834035"/>
            <a:ext cx="1354053" cy="472423"/>
          </a:xfrm>
          <a:prstGeom prst="roundRect">
            <a:avLst>
              <a:gd name="adj" fmla="val 16130"/>
            </a:avLst>
          </a:prstGeom>
          <a:solidFill>
            <a:srgbClr val="1E8A4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10101011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337396" y="5855608"/>
            <a:ext cx="5322741" cy="454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6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checksum. No option A–D matches; the key's B (01100101) does not follow from the sum.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882023" y="5692067"/>
            <a:ext cx="3697203" cy="756359"/>
          </a:xfrm>
          <a:prstGeom prst="roundRect">
            <a:avLst>
              <a:gd name="adj" fmla="val 13013"/>
            </a:avLst>
          </a:prstGeom>
          <a:solidFill>
            <a:srgbClr val="FFF4E5"/>
          </a:solidFill>
          <a:ln w="6350">
            <a:solidFill>
              <a:srgbClr val="F0C7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2091" y="5821335"/>
            <a:ext cx="3437179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62091" y="6072784"/>
            <a:ext cx="3437179" cy="24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→ Wrap the carry → Flip all bits.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775" y="358775"/>
            <a:ext cx="10966451" cy="1890429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643" y="538843"/>
            <a:ext cx="2162209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· QUESTION 3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705408" y="538843"/>
            <a:ext cx="264295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Correction: Hamming Code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43643" y="853793"/>
            <a:ext cx="1081985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i="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Dataword length 11 bits; Hamming parity bits needed?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3643" y="1241143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7" name="Text 5"/>
          <p:cNvSpPr/>
          <p:nvPr/>
        </p:nvSpPr>
        <p:spPr>
          <a:xfrm>
            <a:off x="970643" y="1304643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0043" y="1304643"/>
            <a:ext cx="15072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241143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0" name="Text 8"/>
          <p:cNvSpPr/>
          <p:nvPr/>
        </p:nvSpPr>
        <p:spPr>
          <a:xfrm>
            <a:off x="6299200" y="1304643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78600" y="1304643"/>
            <a:ext cx="15072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3643" y="1693239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970643" y="1756739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50043" y="1756739"/>
            <a:ext cx="15072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3239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299200" y="1756739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78600" y="1756739"/>
            <a:ext cx="15072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775" y="2407955"/>
            <a:ext cx="5403850" cy="2942488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243" y="2588022"/>
            <a:ext cx="51427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&amp; Concept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243" y="2905522"/>
            <a:ext cx="5142702" cy="24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Dataword length: </a:t>
            </a:r>
            <a:r>
              <a:rPr lang="en-US" sz="13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11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243" y="3217297"/>
            <a:ext cx="4992915" cy="401297"/>
          </a:xfrm>
          <a:prstGeom prst="roundRect">
            <a:avLst>
              <a:gd name="adj" fmla="val 15824"/>
            </a:avLst>
          </a:prstGeom>
          <a:solidFill>
            <a:srgbClr val="E8F0FB"/>
          </a:solidFill>
          <a:ln/>
        </p:spPr>
        <p:txBody>
          <a:bodyPr wrap="square" lIns="11156" tIns="57601" rIns="11156" bIns="32201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2^r ≥ m + r + 1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8243" y="3707493"/>
            <a:ext cx="5142702" cy="47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number of parity bits. The r bits must identify any of the m + r bit positions, or "no error".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5375" y="2407955"/>
            <a:ext cx="5403850" cy="2942488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0843" y="2588022"/>
            <a:ext cx="51427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80843" y="2905522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34843" y="2905522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3: 2³ = 8 vs 11 + 3 + 1 = 15 → 8 ≥ 15 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80843" y="3225546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34843" y="3225546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4: 2⁴ = 16 vs 11 + 4 + 1 = 16 → 16 ≥ 16 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80843" y="3545568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34843" y="3545568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4 is the smallest value that works, so </a:t>
            </a:r>
            <a:r>
              <a:rPr lang="en-US" sz="13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4</a:t>
            </a: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9125" y="5515542"/>
            <a:ext cx="7097798" cy="926533"/>
          </a:xfrm>
          <a:prstGeom prst="roundRect">
            <a:avLst>
              <a:gd name="adj" fmla="val 9938"/>
            </a:avLst>
          </a:prstGeom>
          <a:solidFill>
            <a:srgbClr val="E3F4EA"/>
          </a:solidFill>
          <a:ln w="19050">
            <a:solidFill>
              <a:srgbClr val="1E8A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943" y="5732435"/>
            <a:ext cx="483110" cy="492749"/>
          </a:xfrm>
          <a:prstGeom prst="roundRect">
            <a:avLst>
              <a:gd name="adj" fmla="val 15773"/>
            </a:avLst>
          </a:prstGeom>
          <a:solidFill>
            <a:srgbClr val="1E8A4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466453" y="5764185"/>
            <a:ext cx="6219812" cy="454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46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parity bits: the smallest r with 2^r ≥ m + r + 1. (The source key lists C; 5 also satisfies it but is not the minimum.)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882023" y="5509192"/>
            <a:ext cx="3697203" cy="939233"/>
          </a:xfrm>
          <a:prstGeom prst="roundRect">
            <a:avLst>
              <a:gd name="adj" fmla="val 10479"/>
            </a:avLst>
          </a:prstGeom>
          <a:solidFill>
            <a:srgbClr val="FFF4E5"/>
          </a:solidFill>
          <a:ln w="6350">
            <a:solidFill>
              <a:srgbClr val="F0C7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62091" y="5638460"/>
            <a:ext cx="3437179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62091" y="5889909"/>
            <a:ext cx="3437179" cy="454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Hamming (15, 11): 11 data + 4 parity.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775" y="358775"/>
            <a:ext cx="10966451" cy="1890429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643" y="538842"/>
            <a:ext cx="2162209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· QUESTION 4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44661" y="538842"/>
            <a:ext cx="2903696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Correction: Minimum Distance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43643" y="853791"/>
            <a:ext cx="1081985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i="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Minimum distance of Hamming (7, 4)?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3643" y="1241141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7" name="Text 5"/>
          <p:cNvSpPr/>
          <p:nvPr/>
        </p:nvSpPr>
        <p:spPr>
          <a:xfrm>
            <a:off x="970643" y="1304641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0043" y="1304641"/>
            <a:ext cx="15072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241141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0" name="Text 8"/>
          <p:cNvSpPr/>
          <p:nvPr/>
        </p:nvSpPr>
        <p:spPr>
          <a:xfrm>
            <a:off x="6299200" y="1304641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78600" y="1304641"/>
            <a:ext cx="15072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3643" y="1693238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970643" y="1756738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50043" y="1756738"/>
            <a:ext cx="15072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3238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299200" y="1756738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78600" y="1756738"/>
            <a:ext cx="15072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775" y="2407954"/>
            <a:ext cx="5403850" cy="3105037"/>
          </a:xfrm>
          <a:prstGeom prst="roundRect">
            <a:avLst>
              <a:gd name="adj" fmla="val 3170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243" y="2588022"/>
            <a:ext cx="51427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&amp; Concept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243" y="2905522"/>
            <a:ext cx="5142702" cy="24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(n, k) = (7, 4): 7 codeword bits, 4 data bits, 3 parity bits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8243" y="3217295"/>
            <a:ext cx="4992915" cy="688295"/>
          </a:xfrm>
          <a:prstGeom prst="roundRect">
            <a:avLst>
              <a:gd name="adj" fmla="val 9226"/>
            </a:avLst>
          </a:prstGeom>
          <a:solidFill>
            <a:srgbClr val="E8F0FB"/>
          </a:solidFill>
          <a:ln/>
        </p:spPr>
      </p:sp>
      <p:sp>
        <p:nvSpPr>
          <p:cNvPr id="22" name="Text 20"/>
          <p:cNvSpPr/>
          <p:nvPr/>
        </p:nvSpPr>
        <p:spPr>
          <a:xfrm>
            <a:off x="847997" y="3293495"/>
            <a:ext cx="493340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s errors: dmin ≥ s + 1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7997" y="3580493"/>
            <a:ext cx="493340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t errors: dmin ≥ 2t + 1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5375" y="2407954"/>
            <a:ext cx="5403850" cy="3105037"/>
          </a:xfrm>
          <a:prstGeom prst="roundRect">
            <a:avLst>
              <a:gd name="adj" fmla="val 3170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0843" y="2588022"/>
            <a:ext cx="51427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80843" y="2905522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34843" y="2905522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Hamming code corrects 1 error: t = 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80843" y="3225544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34843" y="3225544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dmin ≥ 2(1) + 1 =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80843" y="3545568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34843" y="3545568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also detects 2 errors: s = 2 → dmin ≥ 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80843" y="3865590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34843" y="3865590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Hamming codes are designed with dmin = </a:t>
            </a:r>
            <a:r>
              <a:rPr lang="en-US" sz="13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9125" y="5678089"/>
            <a:ext cx="7097798" cy="763984"/>
          </a:xfrm>
          <a:prstGeom prst="roundRect">
            <a:avLst>
              <a:gd name="adj" fmla="val 12052"/>
            </a:avLst>
          </a:prstGeom>
          <a:solidFill>
            <a:srgbClr val="E3F4EA"/>
          </a:solidFill>
          <a:ln w="19050">
            <a:solidFill>
              <a:srgbClr val="1E8A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943" y="5813709"/>
            <a:ext cx="483110" cy="492749"/>
          </a:xfrm>
          <a:prstGeom prst="roundRect">
            <a:avLst>
              <a:gd name="adj" fmla="val 15773"/>
            </a:avLst>
          </a:prstGeom>
          <a:solidFill>
            <a:srgbClr val="1E8A4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466453" y="5944507"/>
            <a:ext cx="621981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46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dmin = 3: corrects 1 error, detects 2.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882023" y="5671739"/>
            <a:ext cx="3697203" cy="776684"/>
          </a:xfrm>
          <a:prstGeom prst="roundRect">
            <a:avLst>
              <a:gd name="adj" fmla="val 12672"/>
            </a:avLst>
          </a:prstGeom>
          <a:solidFill>
            <a:srgbClr val="FFF4E5"/>
          </a:solidFill>
          <a:ln w="6350">
            <a:solidFill>
              <a:srgbClr val="F0C7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2091" y="5801009"/>
            <a:ext cx="3437179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62091" y="6052457"/>
            <a:ext cx="3437179" cy="24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Hamming code has dmin = 3.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775" y="358775"/>
            <a:ext cx="10966451" cy="1890429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643" y="538845"/>
            <a:ext cx="2162209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· QUESTION 5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024666" y="538845"/>
            <a:ext cx="232369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Detection: Parity Check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43643" y="853793"/>
            <a:ext cx="1081985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i="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 Probability single-bit error undetected by parity check?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3643" y="1241143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7" name="Text 5"/>
          <p:cNvSpPr/>
          <p:nvPr/>
        </p:nvSpPr>
        <p:spPr>
          <a:xfrm>
            <a:off x="970643" y="1304643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0043" y="1304643"/>
            <a:ext cx="15072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241143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0" name="Text 8"/>
          <p:cNvSpPr/>
          <p:nvPr/>
        </p:nvSpPr>
        <p:spPr>
          <a:xfrm>
            <a:off x="6299200" y="1304643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78600" y="1304643"/>
            <a:ext cx="29754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3643" y="1693239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970643" y="1756739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50043" y="1756739"/>
            <a:ext cx="15072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3239"/>
            <a:ext cx="5176157" cy="375897"/>
          </a:xfrm>
          <a:prstGeom prst="roundRect">
            <a:avLst>
              <a:gd name="adj" fmla="val 16893"/>
            </a:avLst>
          </a:prstGeom>
          <a:solidFill>
            <a:srgbClr val="EEF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299200" y="1756739"/>
            <a:ext cx="2286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78600" y="1756739"/>
            <a:ext cx="160200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data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775" y="2407955"/>
            <a:ext cx="5403850" cy="3105037"/>
          </a:xfrm>
          <a:prstGeom prst="roundRect">
            <a:avLst>
              <a:gd name="adj" fmla="val 3170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243" y="2588022"/>
            <a:ext cx="51427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&amp; Concept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243" y="2905522"/>
            <a:ext cx="5142702" cy="24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parity bit makes the number of 1s even (or odd).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243" y="3217298"/>
            <a:ext cx="4992915" cy="401297"/>
          </a:xfrm>
          <a:prstGeom prst="roundRect">
            <a:avLst>
              <a:gd name="adj" fmla="val 15824"/>
            </a:avLst>
          </a:prstGeom>
          <a:solidFill>
            <a:srgbClr val="E8F0FB"/>
          </a:solidFill>
          <a:ln/>
        </p:spPr>
        <p:txBody>
          <a:bodyPr wrap="square" lIns="11156" tIns="57601" rIns="11156" bIns="32201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 detects every odd-bit error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8243" y="3707495"/>
            <a:ext cx="5142702" cy="24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even numbers of flipped bits (2, 4, …) can slip through.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5375" y="2407955"/>
            <a:ext cx="5403850" cy="3105037"/>
          </a:xfrm>
          <a:prstGeom prst="roundRect">
            <a:avLst>
              <a:gd name="adj" fmla="val 3170"/>
            </a:avLst>
          </a:prstGeom>
          <a:solidFill>
            <a:srgbClr val="FFFFFF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0843" y="2588022"/>
            <a:ext cx="51427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80843" y="2905522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34843" y="2905522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sends a word with even parity.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80843" y="3225546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34843" y="3225546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bit flips (0 → 1 or 1 → 0).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80843" y="3545570"/>
            <a:ext cx="20320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34843" y="3545570"/>
            <a:ext cx="4881082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 of 1s changes by exactly ±1, so it becomes odd.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80843" y="3865594"/>
            <a:ext cx="203200" cy="47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34843" y="3865594"/>
            <a:ext cx="4881082" cy="47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receiver sees odd parity: always detected, so P(undetected) = </a:t>
            </a:r>
            <a:r>
              <a:rPr lang="en-US" sz="13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9125" y="5678091"/>
            <a:ext cx="7097798" cy="763984"/>
          </a:xfrm>
          <a:prstGeom prst="roundRect">
            <a:avLst>
              <a:gd name="adj" fmla="val 12052"/>
            </a:avLst>
          </a:prstGeom>
          <a:solidFill>
            <a:srgbClr val="E3F4EA"/>
          </a:solidFill>
          <a:ln w="19050">
            <a:solidFill>
              <a:srgbClr val="1E8A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943" y="5813710"/>
            <a:ext cx="492522" cy="492749"/>
          </a:xfrm>
          <a:prstGeom prst="roundRect">
            <a:avLst>
              <a:gd name="adj" fmla="val 15471"/>
            </a:avLst>
          </a:prstGeom>
          <a:solidFill>
            <a:srgbClr val="1E8A4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475865" y="5944508"/>
            <a:ext cx="6210117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46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 a single-bit error is always detected, whatever the data.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882023" y="5671741"/>
            <a:ext cx="3697203" cy="776684"/>
          </a:xfrm>
          <a:prstGeom prst="roundRect">
            <a:avLst>
              <a:gd name="adj" fmla="val 12672"/>
            </a:avLst>
          </a:prstGeom>
          <a:solidFill>
            <a:srgbClr val="FFF4E5"/>
          </a:solidFill>
          <a:ln w="6350">
            <a:solidFill>
              <a:srgbClr val="F0C7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62091" y="5801010"/>
            <a:ext cx="3437179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7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62091" y="6052458"/>
            <a:ext cx="3437179" cy="24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errors caught; even errors missed.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t 2 MCQ Explanation Slides">
  <a:themeElements>
    <a:clrScheme name="Unit 2 MCQ Explanation Slides">
      <a:dk1>
        <a:srgbClr val="141413"/>
      </a:dk1>
      <a:lt1>
        <a:srgbClr val="F6F7F4"/>
      </a:lt1>
      <a:dk2>
        <a:srgbClr val="4D4D4B"/>
      </a:dk2>
      <a:lt2>
        <a:srgbClr val="DFE0DE"/>
      </a:lt2>
      <a:accent1>
        <a:srgbClr val="1F5FBF"/>
      </a:accent1>
      <a:accent2>
        <a:srgbClr val="D9730D"/>
      </a:accent2>
      <a:accent3>
        <a:srgbClr val="1E8A4C"/>
      </a:accent3>
      <a:accent4>
        <a:srgbClr val="14633A"/>
      </a:accent4>
      <a:accent5>
        <a:srgbClr val="1D2433"/>
      </a:accent5>
      <a:accent6>
        <a:srgbClr val="5B6472"/>
      </a:accent6>
      <a:hlink>
        <a:srgbClr val="0563C1"/>
      </a:hlink>
      <a:folHlink>
        <a:srgbClr val="954F72"/>
      </a:folHlink>
    </a:clrScheme>
    <a:fontScheme name="Unit 2 MCQ Explanation Slid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Microsoft Office PowerPoint</Application>
  <PresentationFormat>Widescreen</PresentationFormat>
  <Paragraphs>151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Courier New</vt:lpstr>
      <vt:lpstr>Unit 2 MCQ Explanation Slides</vt:lpstr>
      <vt:lpstr>Q1. CRC with G(x) = x³ + x + 1, data = 1011, received = 1011010. Error detected?</vt:lpstr>
      <vt:lpstr>Q2. Checksum of four 8-bit words 10011001, 11110000, 10101010, 00011111?</vt:lpstr>
      <vt:lpstr>Q3. Dataword length 11 bits; Hamming parity bits needed?</vt:lpstr>
      <vt:lpstr>Q4. Minimum distance of Hamming (7, 4)?</vt:lpstr>
      <vt:lpstr>Q5. Probability single-bit error undetected by parity check?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MCQ Explanation Slides</dc:title>
  <dc:subject/>
  <dc:creator>Bhavatharani</dc:creator>
  <cp:lastModifiedBy>bhavi Harish</cp:lastModifiedBy>
  <cp:revision>1</cp:revision>
  <dcterms:created xsi:type="dcterms:W3CDTF">2026-10-27T04:16:12Z</dcterms:created>
  <dcterms:modified xsi:type="dcterms:W3CDTF">2026-10-27T04:25:35Z</dcterms:modified>
</cp:coreProperties>
</file>